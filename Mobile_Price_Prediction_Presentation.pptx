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303520"/>
            <a:ext cx="11731752" cy="137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440680"/>
            <a:ext cx="11731752" cy="1417320"/>
          </a:xfrm>
          <a:prstGeom prst="rect">
            <a:avLst/>
          </a:prstGeom>
          <a:solidFill>
            <a:srgbClr val="16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📱 Feature Extraction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B8A6"/>
                </a:solidFill>
              </a:rPr>
              <a:t>Price Prediction for Mobile 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</a:rPr>
              <a:t>A Machine Learning Approach to Data-Driven Pricing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49039"/>
            <a:ext cx="2377440" cy="118872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541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Phone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749039"/>
            <a:ext cx="2377440" cy="118872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434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Features Analysed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749039"/>
            <a:ext cx="2377440" cy="118872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3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ML Models Built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749039"/>
            <a:ext cx="2377440" cy="118872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74903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82.2%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434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Best R²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NextHikes IT Solutions  |  Data Science Project  |  Dhiraj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Understanding the problem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819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753"/>
                </a:solidFill>
              </a:rPr>
              <a:t>🏢  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8424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 prominent mobile phone retailer needs a data-driven pricing strategy to remain competitive in a fast-moving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819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753"/>
                </a:solidFill>
              </a:rPr>
              <a:t>🎯  Primary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8424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Build a predictive ML model that accurately estimates mobile phone prices based on hardware &amp; software specifications.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050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753"/>
                </a:solidFill>
              </a:rPr>
              <a:t>🔍  Feature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40740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Identify which features (RAM, camera, processor, battery) most strongly influence phone pricing using statistical methods.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050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753"/>
                </a:solidFill>
              </a:rPr>
              <a:t>📊 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0740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Predictive model, feature importance rankings, visualizations, and strategic recommendations for the sales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541 mobile phone records from Flipkart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753"/>
                </a:solidFill>
              </a:rPr>
              <a:t>Features in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465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Phone model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Colour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1762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Phone color variant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51176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060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Internal storage (GB)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80944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0358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RAM size (GB)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10712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655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Battery_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465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Battery capacity (mAh)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79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95343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Rear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89534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Camera specs (MP)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70248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2511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Front 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3251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Selfie camera specs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0016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548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AI 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7548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AI camera (0/1)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29783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84647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Mobile Height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18464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Physical height (cm)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59552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144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Processor_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6144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Processor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989319"/>
            <a:ext cx="5303520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44183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Prize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604418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TARGET: Price in 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753"/>
                </a:solidFill>
              </a:rPr>
              <a:t>Key Statistics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691640"/>
            <a:ext cx="25603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1691640"/>
            <a:ext cx="25603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</a:rPr>
              <a:t>541 phones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Total Records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1691640"/>
            <a:ext cx="25603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1691640"/>
            <a:ext cx="25603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₹920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Min Price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154680"/>
            <a:ext cx="25603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315468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32918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4444"/>
                </a:solidFill>
              </a:rPr>
              <a:t>₹80,999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Max Price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3154680"/>
            <a:ext cx="25603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69680" y="31546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32918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₹16,228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Avg Price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4434840"/>
            <a:ext cx="25603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06640" y="4434840"/>
            <a:ext cx="25603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4572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₹13,499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Median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Price distribution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04672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188720"/>
            <a:ext cx="342900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188720"/>
            <a:ext cx="73152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753"/>
                </a:solidFill>
              </a:rPr>
              <a:t>💡 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83080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📈 Right-skewed distribution — most phones are budget/mid-range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87752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📊 Mean (₹16,228) &gt; Median (₹13,499) — confirms skew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39242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🎯 Majority of phones priced between ₹7,000 – ₹25,000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197096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⚠️ Several high-value outliers (₹50,000+) represent flagship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001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✅ Outliers retained — premium phones are valid business data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Cleaning &amp; preparing features for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691640"/>
            <a:ext cx="4572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819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Camera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8424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Extracted numeric MP values from text strings (e.g., "50MP+5MP+2MP" → 50 MP) using regex parsing for both Rear and Front camera columns.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3368" y="1691640"/>
            <a:ext cx="457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819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Categorical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8424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Applied Label Encoding to Processor_ (123 unique values) and Colour columns, converting text categories to numeric representations.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47472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649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Outlier Analysis (IQR)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76732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Identified price outliers using IQR method. Retained all data points — premium flagship phones are valid real-world business records.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0040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3474720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649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Feature Matrix Construction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76732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Final 9 features selected: Memory, RAM, Battery, Rear_Camera_MP, Front_Camera_MP, AI Lens, Mobile Height, Processor_Encoded, Colour_Encoded.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5257800"/>
            <a:ext cx="457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1480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Train-Test Split (80/20)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5504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Dataset split: 432 training samples (80%) and 109 test samples (20%) with random_state=42 for reproducibility.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983480"/>
            <a:ext cx="557784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3368" y="52578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1480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Feature 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5504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StandardScaler applied for Linear Regression. Tree-based models (RF, GB, DT) used raw unscaled data — they are scale-invariant.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Feature Extraction —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Identifying which features have the strongest statistical relationship with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86384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188720"/>
            <a:ext cx="35661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188720"/>
            <a:ext cx="73152" cy="5029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🔥 Correlation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783080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819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🔴 Front Camera 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18196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305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532888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5694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🟠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25694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880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MODERATE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282696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3192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🟡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33192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630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MODERATE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032504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06908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🟢 Battery_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406908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3799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MODERATE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4782312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48188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⚪ AI Lens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481888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1297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5532120"/>
            <a:ext cx="3246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556869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⚪ Rear Camera 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556869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+0.12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8795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Feature Extraction — Scatter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Visual relationship between key features and mobile phone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tter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2296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188720"/>
            <a:ext cx="32918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188720"/>
            <a:ext cx="73152" cy="5029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753"/>
                </a:solidFill>
              </a:rPr>
              <a:t>📈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🔵 RAM: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7568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Strong positive trend — each extra GB of RAM increases price substantially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834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🔵 Memory: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12724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Clear step-up pricing at 64GB, 128GB, and 256GB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🔵 Camera: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17880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Rear camera MP shows a moderate positive but nonlinear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9377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🔵 Battery: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23036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Weak positive trend — high battery matters more in budget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Feature Extraction — RAM &amp; Memory vs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Price distribution across different RAM and storage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xplot_ram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039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915400" y="1188720"/>
            <a:ext cx="30632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188720"/>
            <a:ext cx="73152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3258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💡 Pricing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7830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4GB RAM → Budget segment (₹7K–12K)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2860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6GB RAM → Mid-range (₹12K–18K)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7889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8GB RAM → Upper-mid (₹18K–30K)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329184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12GB+ RAM → Premium (₹30K+)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3931920"/>
            <a:ext cx="265176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2976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64GB Storage = Entry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8006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</a:rPr>
              <a:t>128GB = Mid-range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53035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256GB = Premium upsell 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Feature Extraction — Camera &amp; AI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Impact of camera resolution and AI lens on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mera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039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915400" y="1188720"/>
            <a:ext cx="306324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188720"/>
            <a:ext cx="73152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3258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📷 Camera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78308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1828800"/>
            <a:ext cx="2578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Cameras priced ≤12MP dominate the budget segment below ₹12,000.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679191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724912"/>
            <a:ext cx="2578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25–48MP cameras mark the mid-range sweet spot (₹15K–₹25K).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3575304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3621024"/>
            <a:ext cx="2578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&gt;48MP resolution drives strong premium pricing above ₹25,000.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471416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4517136"/>
            <a:ext cx="2578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AI Lens phones command a ~₹4,000 premium over non-AI variants on average.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536752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5413248"/>
            <a:ext cx="25786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Front Camera MP showed the strongest single correlation (+0.71) with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4 machine learning algorithms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81912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753"/>
                </a:solidFill>
              </a:rPr>
              <a:t>Linear
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2423160"/>
            <a:ext cx="1371600" cy="10058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423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36.1%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R²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6118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Baseline model — assumes linear price-feature relationships. Simple, interpretable, but limited for non-linear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7889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81912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753"/>
                </a:solidFill>
              </a:rPr>
              <a:t>Decision
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2423160"/>
            <a:ext cx="137160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2423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R²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6118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Non-linear model that learns price rules through recursive splits. Captures complexity but prone to overfitting.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417320"/>
            <a:ext cx="27889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581912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753"/>
                </a:solidFill>
              </a:rPr>
              <a:t>Random
Forest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76288" y="2423160"/>
            <a:ext cx="13716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2423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82.2%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R²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6118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Ensemble of 100 decision trees. Reduces overfitting via averaging. Best overall performer on this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989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🏆 BEST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41732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417320"/>
            <a:ext cx="27889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1581912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753"/>
                </a:solidFill>
              </a:rPr>
              <a:t>Gradient
Boosting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2368" y="2423160"/>
            <a:ext cx="13716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423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78.3%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R²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36118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Iterative boosting ensemble. Learns from previous errors. Strong accuracy with good generalisation.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Performance metrics across all 4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863840" cy="3200400"/>
          </a:xfrm>
          <a:prstGeom prst="rect">
            <a:avLst/>
          </a:prstGeom>
        </p:spPr>
      </p:pic>
      <p:pic>
        <p:nvPicPr>
          <p:cNvPr id="7" name="Picture 6" descr="prediction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26280"/>
            <a:ext cx="7863840" cy="210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188720"/>
            <a:ext cx="3657600" cy="5440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188720"/>
            <a:ext cx="3657600" cy="384048"/>
          </a:xfrm>
          <a:prstGeom prst="rect">
            <a:avLst/>
          </a:prstGeom>
          <a:solidFill>
            <a:srgbClr val="1C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070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20700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12070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0272" y="12070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00200"/>
            <a:ext cx="365760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9164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753"/>
                </a:solidFill>
              </a:rPr>
              <a:t>Lin. Reg.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69164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₹4,053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169164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0.361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0272" y="169164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⭐⭐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194560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2860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753"/>
                </a:solidFill>
              </a:rPr>
              <a:t>Dec.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28600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366F1"/>
                </a:solidFill>
              </a:rPr>
              <a:t>₹2,173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22860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366F1"/>
                </a:solidFill>
              </a:rPr>
              <a:t>0.716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0272" y="22860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6F1"/>
                </a:solidFill>
              </a:rPr>
              <a:t>⭐⭐⭐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788920"/>
            <a:ext cx="3657600" cy="566928"/>
          </a:xfrm>
          <a:prstGeom prst="rect">
            <a:avLst/>
          </a:prstGeom>
          <a:solidFill>
            <a:srgbClr val="E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288036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Rand.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88036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488"/>
                </a:solidFill>
              </a:rPr>
              <a:t>₹2,039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28803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0.822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0272" y="28803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</a:rPr>
              <a:t>⭐⭐⭐⭐⭐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383280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4747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753"/>
                </a:solidFill>
              </a:rPr>
              <a:t>Grad. Boost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47472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₹2,360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34747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0.783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20272" y="34747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69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💡 Random Forest is the best model with R²=0.822,
   meaning it explains 82.2% of price variance.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Feature Importance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Random Forest confirms which features drive mobile phone prices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73152" cy="5029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2984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🔍 Top Features Ranked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755648"/>
            <a:ext cx="3337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810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📷 Front Camera 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2231136"/>
            <a:ext cx="26517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2231136"/>
            <a:ext cx="241744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21762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50.1%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633472"/>
            <a:ext cx="3337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6883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🔋 Battery Capacity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3108960"/>
            <a:ext cx="26517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9640" y="3108960"/>
            <a:ext cx="744421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30540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15.4%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511296"/>
            <a:ext cx="3337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566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⚙️ Processor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3986784"/>
            <a:ext cx="26517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3986784"/>
            <a:ext cx="404513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39319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8.4%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389120"/>
            <a:ext cx="3337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4439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💾 Internal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4864608"/>
            <a:ext cx="26517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49640" y="4864608"/>
            <a:ext cx="39294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0" y="48097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8.2%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5266944"/>
            <a:ext cx="3337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📏 Mobile Height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5742432"/>
            <a:ext cx="26517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5742432"/>
            <a:ext cx="310979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56875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6.5%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2753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Actionable pricing &amp; marketing strategy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753"/>
                </a:solidFill>
              </a:rPr>
              <a:t>📊 Strategic Pricing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8503920" cy="384048"/>
          </a:xfrm>
          <a:prstGeom prst="rect">
            <a:avLst/>
          </a:prstGeom>
          <a:solidFill>
            <a:srgbClr val="1C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9164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Target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75688"/>
            <a:ext cx="8503920" cy="47548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0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💚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130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4GB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130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64GB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30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13MP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130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5000mAh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305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₹7,000–₹12,000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78608"/>
            <a:ext cx="8503920" cy="47548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33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💛 Mid-Range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633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6–8GB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633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128GB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33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48MP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633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4500mAh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6334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₹12,000–₹20,000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81528"/>
            <a:ext cx="8503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36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🔵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136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8–12GB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136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256GB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136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64MP+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136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5000mAh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136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₹20,000–₹50,000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84448"/>
            <a:ext cx="8503920" cy="47548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639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🔴 Flagship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3639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12–16GB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639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256GB+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639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108MP+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6393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5000mAh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6393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₹50,000+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753"/>
                </a:solidFill>
              </a:rPr>
              <a:t>🎯 Top Priority Actions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1737360"/>
            <a:ext cx="292608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17922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🧠 RAM as Pricing Lever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12140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Use RAM tiers as primary price differentiator — it has the strongest business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2670048"/>
            <a:ext cx="292608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2724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📷 Camera-Led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054096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Promote camera specs heavily in mid-range; &gt;48MP commands significantly higher ASP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3602736"/>
            <a:ext cx="292608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657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⚙️ Processor Bundling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3986784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Bundle Snapdragon/Dimensity phones with extended warranty to justify premium pricing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4535424"/>
            <a:ext cx="292608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590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📦 Storage Upsell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91947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Push 128GB as mid-range standard; position 256GB as a ₹3–5K upsell opportunity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5468112"/>
            <a:ext cx="292608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55229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753"/>
                </a:solidFill>
              </a:rPr>
              <a:t>🤖 AI 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521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Integrate RF model to auto-suggest prices for new inventory based on spec sheets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394960"/>
            <a:ext cx="11731752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📋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B8A6"/>
                </a:solidFill>
              </a:rPr>
              <a:t>Project Summary &amp;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🏆  Best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Random Forest achieved R²=0.822 — explains 82.2% of price variance with MAE of ₹2,039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554480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🔍  Top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Front Camera MP (50.1%) is the single most important price predictor, followed by Battery (15.4%)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39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260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💡  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39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Mobile phone prices follow non-linear patterns — tree-based models outperform Linear Regression significantly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834639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834639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9260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📈  Business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91839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The model can auto-price new inventory, detect mispriced phones, and analyse competitor pricing strategies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14800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✅ 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Deploy Random Forest as the primary pricing engine, with quarterly retraining as market conditions evolve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114800"/>
            <a:ext cx="5532120" cy="1143000"/>
          </a:xfrm>
          <a:prstGeom prst="rect">
            <a:avLst/>
          </a:prstGeom>
          <a:solidFill>
            <a:srgbClr val="25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4114800"/>
            <a:ext cx="64008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2062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🚀 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72000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Expand dataset, add online ratings/reviews as features, and deploy model via REST API for real-time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NextHikes IT Solutions  |  Feature Extraction &amp; Price Prediction  |  Dhiraj Sharma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